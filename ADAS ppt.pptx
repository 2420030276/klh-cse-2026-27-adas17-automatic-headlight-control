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3" r:id="rId9"/>
    <p:sldId id="354" r:id="rId10"/>
    <p:sldId id="358" r:id="rId11"/>
    <p:sldId id="355" r:id="rId12"/>
    <p:sldId id="356" r:id="rId13"/>
    <p:sldId id="359" r:id="rId14"/>
    <p:sldId id="332" r:id="rId15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/>
    <p:restoredTop sz="95822"/>
  </p:normalViewPr>
  <p:slideViewPr>
    <p:cSldViewPr snapToGrid="0" snapToObjects="1">
      <p:cViewPr varScale="1">
        <p:scale>
          <a:sx n="91" d="100"/>
          <a:sy n="91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07-10-2026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07-10-2026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07-10-2026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07-10-2026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07-10-2026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07-10-2026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07-10-2026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07-10-2026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029094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/>
              <a:t>ENGINEERING CAPSTONE PROJECT – 1</a:t>
            </a:r>
            <a:br>
              <a:rPr dirty="0"/>
            </a:br>
            <a:r>
              <a:rPr sz="2400" b="1" dirty="0"/>
              <a:t>INDUSTRIAL INTERNSHIP PHASE-I</a:t>
            </a:r>
            <a:br>
              <a:rPr dirty="0"/>
            </a:br>
            <a:r>
              <a:rPr sz="2400" b="1" dirty="0"/>
              <a:t>PROJECT REVIEW – 1</a:t>
            </a:r>
            <a:br>
              <a:rPr dirty="0"/>
            </a:br>
            <a:r>
              <a:rPr sz="2400" b="1" dirty="0"/>
              <a:t>Smart Vehicle Vision System with Image Recognition and Automatic Headlight Control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0334" y="2024131"/>
            <a:ext cx="10515600" cy="457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1800" b="0" dirty="0"/>
              <a:t>Team No: </a:t>
            </a:r>
            <a:r>
              <a:rPr lang="en-US" sz="1800" dirty="0"/>
              <a:t> </a:t>
            </a:r>
            <a:r>
              <a:rPr lang="en-US" sz="1800" b="0" dirty="0"/>
              <a:t>17</a:t>
            </a:r>
            <a:br>
              <a:rPr dirty="0"/>
            </a:br>
            <a:r>
              <a:rPr lang="en-IN" dirty="0"/>
              <a:t> </a:t>
            </a:r>
            <a:r>
              <a:rPr sz="1800" b="0" dirty="0"/>
              <a:t>Roll No &amp; Name:</a:t>
            </a:r>
            <a:endParaRPr lang="en-US" sz="1800" b="0" dirty="0"/>
          </a:p>
          <a:p>
            <a:pPr marL="0" indent="0" algn="ctr">
              <a:buNone/>
            </a:pPr>
            <a:r>
              <a:rPr lang="en-US" sz="1800" b="0" dirty="0"/>
              <a:t>                         </a:t>
            </a:r>
            <a:r>
              <a:rPr sz="1800" b="0" dirty="0"/>
              <a:t>1. </a:t>
            </a:r>
            <a:r>
              <a:rPr lang="en-IN" sz="1800" b="0" dirty="0"/>
              <a:t>M. Venkata Satya</a:t>
            </a:r>
            <a:r>
              <a:rPr lang="en-US" sz="1800" b="0" dirty="0"/>
              <a:t>Mahidhar2420030756</a:t>
            </a:r>
          </a:p>
          <a:p>
            <a:pPr marL="0" indent="0" algn="ctr">
              <a:buNone/>
            </a:pPr>
            <a:r>
              <a:rPr lang="en-US" sz="1800" dirty="0"/>
              <a:t>	            2. Aluru Sri Tejaswi Priyank 2420030276</a:t>
            </a:r>
          </a:p>
          <a:p>
            <a:pPr marL="0" indent="0" algn="ctr">
              <a:buNone/>
            </a:pPr>
            <a:r>
              <a:rPr lang="fi-FI" sz="1800" dirty="0"/>
              <a:t>3. K.Srikar 2420090111</a:t>
            </a:r>
          </a:p>
          <a:p>
            <a:pPr marL="0" indent="0" algn="ctr">
              <a:buNone/>
            </a:pPr>
            <a:r>
              <a:rPr lang="fi-FI" sz="1800" dirty="0"/>
              <a:t> 4. Rohith 2420030783</a:t>
            </a:r>
          </a:p>
          <a:p>
            <a:pPr marL="0" indent="0" algn="ctr">
              <a:buNone/>
            </a:pPr>
            <a:r>
              <a:rPr lang="fi-FI" sz="1800" dirty="0"/>
              <a:t>   5.G.Vineet 2420030375</a:t>
            </a:r>
          </a:p>
          <a:p>
            <a:pPr marL="0" indent="0" algn="ctr">
              <a:buNone/>
            </a:pPr>
            <a:endParaRPr lang="en-US" sz="1800" b="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/>
              <a:t>24-08-2026</a:t>
            </a:r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70334" y="5431528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70334" y="4243809"/>
            <a:ext cx="9909783" cy="1466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b="0" dirty="0"/>
              <a:t>                                                             </a:t>
            </a:r>
            <a:endParaRPr lang="en-IN" sz="2900" b="0" dirty="0"/>
          </a:p>
          <a:p>
            <a:pPr marL="0" indent="0" algn="ctr">
              <a:buNone/>
            </a:pPr>
            <a:endParaRPr lang="en-IN" sz="1800" b="0" dirty="0"/>
          </a:p>
          <a:p>
            <a:pPr marL="0" indent="0" algn="ctr">
              <a:buNone/>
            </a:pPr>
            <a:r>
              <a:rPr sz="6400" b="0" dirty="0"/>
              <a:t>Under the Guidance of</a:t>
            </a:r>
            <a:br>
              <a:rPr sz="6400" dirty="0"/>
            </a:br>
            <a:r>
              <a:rPr sz="6400" b="0" dirty="0"/>
              <a:t>Guide Name: </a:t>
            </a:r>
            <a:r>
              <a:rPr lang="en-US" sz="6400" dirty="0"/>
              <a:t>Ramya Mam</a:t>
            </a:r>
          </a:p>
          <a:p>
            <a:pPr marL="0" indent="0" algn="ctr">
              <a:buNone/>
            </a:pPr>
            <a:r>
              <a:rPr sz="6400" b="0" dirty="0"/>
              <a:t>Designation</a:t>
            </a:r>
            <a:r>
              <a:rPr lang="en-US" sz="6400" b="0" dirty="0"/>
              <a:t> </a:t>
            </a:r>
            <a:r>
              <a:rPr sz="6400" b="0" dirty="0"/>
              <a:t>:</a:t>
            </a:r>
            <a:r>
              <a:rPr lang="en-US" sz="6400" b="0" dirty="0"/>
              <a:t> Professor</a:t>
            </a:r>
            <a:br>
              <a:rPr sz="6400" dirty="0"/>
            </a:br>
            <a:r>
              <a:rPr sz="6400" b="0" dirty="0"/>
              <a:t>Department of Computer Science and Engineering</a:t>
            </a:r>
            <a:endParaRPr lang="en-US" sz="6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770" y="5518464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/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/>
              <a:t>1. Introduction</a:t>
            </a:r>
            <a:br>
              <a:rPr dirty="0"/>
            </a:br>
            <a:r>
              <a:rPr sz="1800" b="0" dirty="0"/>
              <a:t>2. Problem Statement</a:t>
            </a:r>
            <a:br>
              <a:rPr dirty="0"/>
            </a:br>
            <a:r>
              <a:rPr sz="1800" b="0" dirty="0"/>
              <a:t>3. Objectives</a:t>
            </a:r>
            <a:br>
              <a:rPr dirty="0"/>
            </a:br>
            <a:r>
              <a:rPr sz="1800" b="0" dirty="0"/>
              <a:t>4. Literature Survey </a:t>
            </a:r>
            <a:br>
              <a:rPr dirty="0"/>
            </a:br>
            <a:r>
              <a:rPr lang="en-IN" sz="1800" dirty="0"/>
              <a:t>5</a:t>
            </a:r>
            <a:r>
              <a:rPr sz="1800" b="0" dirty="0"/>
              <a:t>. Research Gap Identification</a:t>
            </a:r>
            <a:br>
              <a:rPr dirty="0"/>
            </a:br>
            <a:r>
              <a:rPr lang="en-IN" sz="1800" dirty="0"/>
              <a:t>6</a:t>
            </a:r>
            <a:r>
              <a:rPr sz="1800" b="0" dirty="0"/>
              <a:t>. Innovation, Creativity &amp; Novelty</a:t>
            </a:r>
            <a:br>
              <a:rPr dirty="0"/>
            </a:br>
            <a:r>
              <a:rPr lang="en-IN" sz="1800" dirty="0"/>
              <a:t>7</a:t>
            </a:r>
            <a:r>
              <a:rPr sz="1800" b="0" dirty="0"/>
              <a:t>. Feasibility &amp; Project Plan</a:t>
            </a:r>
            <a:endParaRPr lang="en-IN" sz="1800" b="0" dirty="0"/>
          </a:p>
          <a:p>
            <a:pPr marL="0" indent="0">
              <a:buNone/>
            </a:pPr>
            <a:r>
              <a:rPr lang="en-IN" sz="1800" dirty="0"/>
              <a:t>8.Conclusion</a:t>
            </a:r>
            <a:endParaRPr lang="en-IN" sz="1800" dirty="0">
              <a:solidFill>
                <a:srgbClr val="232323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232323"/>
                </a:solidFill>
              </a:rPr>
              <a:t>9.</a:t>
            </a:r>
            <a:r>
              <a:rPr lang="en-IN" sz="1800" dirty="0"/>
              <a:t> References</a:t>
            </a:r>
            <a:endParaRPr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/>
              <a:t>24-08-2026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sz="2600" b="1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800" b="0" dirty="0"/>
              <a:t>• Modern vehicles need reliable perception in daylight, low-light and night</a:t>
            </a:r>
            <a:r>
              <a:rPr lang="en-IN" sz="1800" b="0" dirty="0"/>
              <a:t> </a:t>
            </a:r>
            <a:r>
              <a:rPr sz="1800" b="0" dirty="0"/>
              <a:t>time conditions.</a:t>
            </a:r>
            <a:br>
              <a:rPr dirty="0"/>
            </a:br>
            <a:r>
              <a:rPr sz="1800" b="0" dirty="0"/>
              <a:t>• A forward-facing camera can identify vehicles, pedestrians, traffic signs and other road objects.</a:t>
            </a:r>
            <a:br>
              <a:rPr dirty="0"/>
            </a:br>
            <a:r>
              <a:rPr sz="1800" b="0" dirty="0"/>
              <a:t>• Automatic headlight control can reduce glare by switching between high and low beam according to detected road users.</a:t>
            </a:r>
            <a:br>
              <a:rPr dirty="0"/>
            </a:br>
            <a:r>
              <a:rPr sz="1800" b="0" dirty="0"/>
              <a:t>• The proposed system combines image enhancement, object detection and decision logic in a single real-time pipeline.</a:t>
            </a:r>
            <a:br>
              <a:rPr dirty="0"/>
            </a:br>
            <a:r>
              <a:rPr sz="1800" b="0" dirty="0"/>
              <a:t>• Applications: ADAS, smart vehicles, driver assistance, nighttime safety and fleet monitoring.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/>
              <a:t>24-08-2026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700" b="0" dirty="0"/>
              <a:t>Night driving is challenging because poor illumination, glare, reflections, occlusion and low-contrast objects reduce the reliability of camera-based perception. Existing intelligent headlight approaches often focus mainly on detecting headlights/taillights or on object detection, while practical systems need a coordinated decision that considers detected road users, scene brightness and vehicle position.</a:t>
            </a:r>
            <a:br>
              <a:rPr dirty="0"/>
            </a:br>
            <a:br>
              <a:rPr dirty="0"/>
            </a:br>
            <a:r>
              <a:rPr sz="1700" b="0" dirty="0"/>
              <a:t>Problem: Develop a low-cost camera-based vision system that detects relevant road objects in real time and automatically selects an appropriate headlight state while minimizing unnecessary glare.</a:t>
            </a:r>
            <a:br>
              <a:rPr dirty="0"/>
            </a:br>
            <a:br>
              <a:rPr dirty="0"/>
            </a:br>
            <a:r>
              <a:rPr sz="1700" b="0" dirty="0"/>
              <a:t>The project will investigate whether a lightweight object detector combined with low-light enhancement and rule-based control can provide a practical prototype for real-time ADAS.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 dirty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2A5F-1F53-48C8-B0D9-C0201331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700" b="0" dirty="0"/>
              <a:t>1. Detect vehicles, pedestrians and other relevant road objects from live camera/video input.</a:t>
            </a:r>
            <a:br>
              <a:rPr dirty="0"/>
            </a:br>
            <a:r>
              <a:rPr sz="1700" b="0" dirty="0"/>
              <a:t>2. Improve night</a:t>
            </a:r>
            <a:r>
              <a:rPr lang="en-IN" sz="1700" b="0" dirty="0"/>
              <a:t> </a:t>
            </a:r>
            <a:r>
              <a:rPr sz="1700" b="0" dirty="0"/>
              <a:t>time/low-light frames using a lightweight enhancement method when required.</a:t>
            </a:r>
            <a:br>
              <a:rPr dirty="0"/>
            </a:br>
            <a:r>
              <a:rPr sz="1700" b="0" dirty="0"/>
              <a:t>3. Estimate scene conditions and determine whether high beam or low beam is appropriate.</a:t>
            </a:r>
            <a:br>
              <a:rPr dirty="0"/>
            </a:br>
            <a:r>
              <a:rPr sz="1700" b="0" dirty="0"/>
              <a:t>4. Build a real-time decision module using object location, confidence and brightness cues.</a:t>
            </a:r>
            <a:br>
              <a:rPr dirty="0"/>
            </a:br>
            <a:r>
              <a:rPr sz="1700" b="0" dirty="0"/>
              <a:t>5. Evaluate performance using precision, recall, </a:t>
            </a:r>
            <a:r>
              <a:rPr sz="1700" b="0" dirty="0" err="1"/>
              <a:t>mAP</a:t>
            </a:r>
            <a:r>
              <a:rPr sz="1700" b="0" dirty="0"/>
              <a:t>, FPS and headlight-decision accuracy.</a:t>
            </a:r>
            <a:br>
              <a:rPr dirty="0"/>
            </a:br>
            <a:r>
              <a:rPr sz="1700" b="0" dirty="0"/>
              <a:t>6. Develop a prototype using Python, OpenCV, YOLO and an optional microcontroller/LED headlight interface.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400" b="1" dirty="0"/>
              <a:t>LITERATURE SURVEY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508760"/>
          <a:ext cx="11567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Year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Authors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Paper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Method / Dataset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Key Finding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Research Gap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DOI / Source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Yu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BDD100K: A Diverse Driving Dataset for Heterogeneous Multitask Learning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BDD100K / CVPR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100K driving videos; road-object tasks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Diverse weather/lighting benchmark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CVPR 2020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Guo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Zero-Reference Deep Curve Estimation for Low-Light Image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Zero-DCE / CVPR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Low-light image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No paired reference images required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10.1109/CVPR42600.2020.00185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Pham &amp; Yoo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Nighttime Vehicle Detection and Tracking with Occlusion Handling by Pairing Headlights and Taillights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Applied Sciences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 vehicle images/video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Light pairing supports tracking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10.3390/app10113986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Zhang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Nighttime Vehicle Detection Based on Lane Information and Detector with CNN Features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SAE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 driving sequences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Lane ROI reduces false detections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10.4271/2020-01-5175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Gao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 Zero-DCE-Based Low-Light Image Enhancement Algorithm for Urban Roads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ICCPR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Urban-road low-light images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Adapts Zero-DCE to road scenes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10.1145/3436369.3437422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Tsai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High-accuracy vehicle lamp detection for real-time night-time traffic surveillance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IET ITS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 traffic video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Lamp extraction + trajectory pairing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10.1049/iet-its.2020.0063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2020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Zhang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Dynamic Adjustment and Distinguishing Method for Vehicle Headlight Based on Thermal Camera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Frontiers in Physics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Night thermal images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Headlight classification at real-time speed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10.3389/fphy.2020.00354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Wang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 Real-Time Object Detector for Autonomous Vehicles Based on YOLOv4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CINE / Wiley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KITTI + BDD100K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Real-time road-object detection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10.1155/2021/9218137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508760"/>
          <a:ext cx="11567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Year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Authors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Paper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Method / Dataset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Key Finding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Research Gap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640" b="1">
                          <a:solidFill>
                            <a:srgbClr val="232323"/>
                          </a:solidFill>
                        </a:rPr>
                        <a:t>DOI / Source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Li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Learning to Enhance Low-Light Image via Zero-Reference Deep Curve Estimation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IEEE TPAMI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Zero-DCE++ / low-light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Lightweight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10.1109/TPAMI.2021.3063604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Ge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YOLOX: Exceeding YOLO Series in 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arXiv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MS COCO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Anchor-free real-time detection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arXiv:2107.08430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Beery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 Dataset for Provident Vehicle Detection at Night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IROS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PVDN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Uses light reflections as cues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10.1109/IROS51168.2021.9636162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2021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Ramos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High-Profile VRU Detection on Resource-Constrained Hardware Using YOLOv3/v4 on BDD100K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Sensors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BDD100K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Evaluates VRU detection on constrained hardware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Sensors, 2021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2022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Wang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YOLOv7: Trainable Bag-of-Freebies Sets New State-of-the-Art for Real-Time Object Detectors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arXiv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MS COCO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High-speed, high-accuracy detection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arXiv:2107.08430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2023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Wang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Ultra-High-Definition Low-Light Image Enhancement: A Benchmark and Transformer-Based Method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AAAI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UHDLOL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LLFormer improves low-light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10.1609/AAAI.V37I3.25364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2023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Yi et al.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LLIEFormer: A Low-Light Image Enhancement Transformer Network with a Degraded Restoration Model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IEEE ICIP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LOL / PairL1.6K / FiveK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Transformer + CNN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IEEE ICIP 2023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2024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LightingFormer authors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LightingFormer: Transformer-CNN Hybrid Network for Low-Light Image Enhancement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Computers &amp; Graphics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Low-light benchmarks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Improves dark-region detail and detection potential</a:t>
                      </a:r>
                    </a:p>
                  </a:txBody>
                  <a:tcPr marL="18288" marR="18288"/>
                </a:tc>
                <a:tc>
                  <a:txBody>
                    <a:bodyPr/>
                    <a:lstStyle/>
                    <a:p>
                      <a:r>
                        <a:rPr sz="580" b="0">
                          <a:solidFill>
                            <a:srgbClr val="232323"/>
                          </a:solidFill>
                        </a:rPr>
                        <a:t>Elsevier, 2024</a:t>
                      </a:r>
                    </a:p>
                  </a:txBody>
                  <a:tcPr marL="18288" marR="182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>
                <a:solidFill>
                  <a:srgbClr val="232323"/>
                </a:solidFill>
              </a:rPr>
              <a:t>RESEARCH GAP IDENTIFICATION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232323"/>
                </a:solidFill>
              </a:rPr>
              <a:t>Key gaps identified from the reviewed work:</a:t>
            </a:r>
          </a:p>
          <a:p>
            <a:endParaRPr sz="1600" b="0" dirty="0">
              <a:solidFill>
                <a:srgbClr val="232323"/>
              </a:solidFill>
            </a:endParaRPr>
          </a:p>
          <a:p>
            <a:r>
              <a:rPr sz="1600" b="0" dirty="0">
                <a:solidFill>
                  <a:srgbClr val="232323"/>
                </a:solidFill>
              </a:rPr>
              <a:t>• Nighttime vehicle/headlight detection is often treated separately from general road-object recognition.</a:t>
            </a:r>
          </a:p>
          <a:p>
            <a:r>
              <a:rPr sz="1600" b="0" dirty="0">
                <a:solidFill>
                  <a:srgbClr val="232323"/>
                </a:solidFill>
              </a:rPr>
              <a:t>• Low-light enhancement improves visibility, but downstream ADAS detection and control are not always evaluated.</a:t>
            </a:r>
          </a:p>
          <a:p>
            <a:r>
              <a:rPr sz="1600" b="0" dirty="0">
                <a:solidFill>
                  <a:srgbClr val="232323"/>
                </a:solidFill>
              </a:rPr>
              <a:t>• High-performing detectors can require significant compute, limiting low-cost real-time deployment.</a:t>
            </a:r>
          </a:p>
          <a:p>
            <a:r>
              <a:rPr sz="1600" b="0" dirty="0">
                <a:solidFill>
                  <a:srgbClr val="232323"/>
                </a:solidFill>
              </a:rPr>
              <a:t>• Headlight decisions need contextual reasoning using object class, position, confidence and scene brightness.</a:t>
            </a:r>
          </a:p>
          <a:p>
            <a:r>
              <a:rPr sz="1600" b="0" dirty="0">
                <a:solidFill>
                  <a:srgbClr val="232323"/>
                </a:solidFill>
              </a:rPr>
              <a:t>• A practical student-scale prototype combining perception, low-light handling and explainable beam-control rules is less explored.</a:t>
            </a:r>
          </a:p>
          <a:p>
            <a:endParaRPr sz="1600" b="0" dirty="0">
              <a:solidFill>
                <a:srgbClr val="232323"/>
              </a:solidFill>
            </a:endParaRPr>
          </a:p>
          <a:p>
            <a:r>
              <a:rPr sz="1600" b="0" dirty="0">
                <a:solidFill>
                  <a:srgbClr val="232323"/>
                </a:solidFill>
              </a:rPr>
              <a:t>Proposed gap:</a:t>
            </a:r>
          </a:p>
          <a:p>
            <a:r>
              <a:rPr sz="1600" b="0" dirty="0">
                <a:solidFill>
                  <a:srgbClr val="232323"/>
                </a:solidFill>
              </a:rPr>
              <a:t>A lightweight, explainable perception-to-control pipeline that links real-time image recognition with automatic high/low-beam decisions and evaluates both perception and control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>
                <a:solidFill>
                  <a:srgbClr val="232323"/>
                </a:solidFill>
              </a:rPr>
              <a:t>INNOVATION, CREATIVITY &amp; NOVELTY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6492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232323"/>
                </a:solidFill>
              </a:rPr>
              <a:t>INNOVATION</a:t>
            </a:r>
          </a:p>
          <a:p>
            <a:r>
              <a:rPr sz="1600" b="0" dirty="0">
                <a:solidFill>
                  <a:srgbClr val="232323"/>
                </a:solidFill>
              </a:rPr>
              <a:t>• Integrates object detection and automatic headlight control in one vision pipeline.</a:t>
            </a:r>
          </a:p>
          <a:p>
            <a:r>
              <a:rPr sz="1600" b="0" dirty="0">
                <a:solidFill>
                  <a:srgbClr val="232323"/>
                </a:solidFill>
              </a:rPr>
              <a:t>• Uses low-light enhancement only when scene conditions require it.</a:t>
            </a:r>
          </a:p>
          <a:p>
            <a:r>
              <a:rPr sz="1600" b="0" dirty="0">
                <a:solidFill>
                  <a:srgbClr val="232323"/>
                </a:solidFill>
              </a:rPr>
              <a:t>• Uses confidence + object position + brightness for beam decisions.</a:t>
            </a:r>
          </a:p>
          <a:p>
            <a:endParaRPr sz="1600" b="0" dirty="0">
              <a:solidFill>
                <a:srgbClr val="232323"/>
              </a:solidFill>
            </a:endParaRPr>
          </a:p>
          <a:p>
            <a:r>
              <a:rPr sz="1600" b="0" dirty="0">
                <a:solidFill>
                  <a:srgbClr val="232323"/>
                </a:solidFill>
              </a:rPr>
              <a:t>CREATIVITY</a:t>
            </a:r>
          </a:p>
          <a:p>
            <a:r>
              <a:rPr sz="1600" b="0" dirty="0">
                <a:solidFill>
                  <a:srgbClr val="232323"/>
                </a:solidFill>
              </a:rPr>
              <a:t>• Modular flow: Camera → Enhancement → Detection → Decision Engine → Headlight Interface.</a:t>
            </a:r>
          </a:p>
          <a:p>
            <a:r>
              <a:rPr sz="1600" b="0" dirty="0">
                <a:solidFill>
                  <a:srgbClr val="232323"/>
                </a:solidFill>
              </a:rPr>
              <a:t>• Explainable rule-based control makes each beam decision traceable.</a:t>
            </a:r>
          </a:p>
          <a:p>
            <a:r>
              <a:rPr sz="1600" b="0" dirty="0">
                <a:solidFill>
                  <a:srgbClr val="232323"/>
                </a:solidFill>
              </a:rPr>
              <a:t>• Optional microcontroller + LED/relay can demonstrate the output.</a:t>
            </a:r>
          </a:p>
          <a:p>
            <a:endParaRPr sz="1600" b="0" dirty="0">
              <a:solidFill>
                <a:srgbClr val="232323"/>
              </a:solidFill>
            </a:endParaRPr>
          </a:p>
          <a:p>
            <a:r>
              <a:rPr sz="1600" b="0" dirty="0">
                <a:solidFill>
                  <a:srgbClr val="232323"/>
                </a:solidFill>
              </a:rPr>
              <a:t>NOVELTY</a:t>
            </a:r>
          </a:p>
          <a:p>
            <a:r>
              <a:rPr sz="1600" b="0" dirty="0">
                <a:solidFill>
                  <a:srgbClr val="232323"/>
                </a:solidFill>
              </a:rPr>
              <a:t>• Focuses on the complete perception-to-control loop rather than detection alone.</a:t>
            </a:r>
          </a:p>
          <a:p>
            <a:r>
              <a:rPr sz="1600" b="0" dirty="0">
                <a:solidFill>
                  <a:srgbClr val="232323"/>
                </a:solidFill>
              </a:rPr>
              <a:t>• Evaluates both AI perception metrics and headlight-control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3400" y="1502009"/>
            <a:ext cx="3474720" cy="566928"/>
          </a:xfrm>
          <a:prstGeom prst="roundRect">
            <a:avLst/>
          </a:prstGeom>
          <a:solidFill>
            <a:srgbClr val="EBF2FA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82D48"/>
                </a:solidFill>
              </a:rPr>
              <a:t>Camera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00" y="2198780"/>
            <a:ext cx="3474720" cy="566928"/>
          </a:xfrm>
          <a:prstGeom prst="roundRect">
            <a:avLst/>
          </a:prstGeom>
          <a:solidFill>
            <a:srgbClr val="EBF2FA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2D48"/>
                </a:solidFill>
              </a:rPr>
              <a:t>Low-Light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400" y="3134318"/>
            <a:ext cx="3474720" cy="566928"/>
          </a:xfrm>
          <a:prstGeom prst="roundRect">
            <a:avLst/>
          </a:prstGeom>
          <a:solidFill>
            <a:srgbClr val="EBF2FA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2D48"/>
                </a:solidFill>
              </a:rPr>
              <a:t>YOLO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3864258"/>
            <a:ext cx="3474720" cy="566928"/>
          </a:xfrm>
          <a:prstGeom prst="roundRect">
            <a:avLst/>
          </a:prstGeom>
          <a:solidFill>
            <a:srgbClr val="EBF2FA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2D48"/>
                </a:solidFill>
              </a:rPr>
              <a:t>Decision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0" y="4594198"/>
            <a:ext cx="3474720" cy="566928"/>
          </a:xfrm>
          <a:prstGeom prst="roundRect">
            <a:avLst/>
          </a:prstGeom>
          <a:solidFill>
            <a:srgbClr val="EBF2FA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2D48"/>
                </a:solidFill>
              </a:rPr>
              <a:t>Headlight Output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>
                <a:solidFill>
                  <a:srgbClr val="232323"/>
                </a:solidFill>
              </a:rPr>
              <a:t>FEASIBILITY &amp; PROJECT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32323"/>
                </a:solidFill>
              </a:rPr>
              <a:t>FEASIBILITY</a:t>
            </a:r>
          </a:p>
          <a:p>
            <a:r>
              <a:rPr sz="1500" b="0">
                <a:solidFill>
                  <a:srgbClr val="232323"/>
                </a:solidFill>
              </a:rPr>
              <a:t>Technical: Python, OpenCV, YOLO and a webcam/laptop are sufficient for the software prototype.</a:t>
            </a:r>
          </a:p>
          <a:p>
            <a:r>
              <a:rPr sz="1500" b="0">
                <a:solidFill>
                  <a:srgbClr val="232323"/>
                </a:solidFill>
              </a:rPr>
              <a:t>Data: BDD100K, KITTI/PVDN and selected low-light datasets provide relevant training/evaluation material.</a:t>
            </a:r>
          </a:p>
          <a:p>
            <a:r>
              <a:rPr sz="1500" b="0">
                <a:solidFill>
                  <a:srgbClr val="232323"/>
                </a:solidFill>
              </a:rPr>
              <a:t>Hardware: Laptop + webcam; optional Raspberry Pi/ESP32/Arduino + LED/relay for demonstration.</a:t>
            </a:r>
          </a:p>
          <a:p>
            <a:r>
              <a:rPr sz="1500" b="0">
                <a:solidFill>
                  <a:srgbClr val="232323"/>
                </a:solidFill>
              </a:rPr>
              <a:t>Time: Modular design supports implementation and testing in phases.</a:t>
            </a:r>
          </a:p>
          <a:p>
            <a:endParaRPr sz="1500" b="0">
              <a:solidFill>
                <a:srgbClr val="232323"/>
              </a:solidFill>
            </a:endParaRPr>
          </a:p>
          <a:p>
            <a:r>
              <a:rPr sz="1500" b="0">
                <a:solidFill>
                  <a:srgbClr val="232323"/>
                </a:solidFill>
              </a:rPr>
              <a:t>PROJECT PLAN</a:t>
            </a:r>
          </a:p>
          <a:p>
            <a:r>
              <a:rPr sz="1500" b="0">
                <a:solidFill>
                  <a:srgbClr val="232323"/>
                </a:solidFill>
              </a:rPr>
              <a:t>Weeks 1–2: Literature survey, requirements and system design</a:t>
            </a:r>
          </a:p>
          <a:p>
            <a:r>
              <a:rPr sz="1500" b="0">
                <a:solidFill>
                  <a:srgbClr val="232323"/>
                </a:solidFill>
              </a:rPr>
              <a:t>Weeks 3–4: Dataset preparation and baseline detector</a:t>
            </a:r>
          </a:p>
          <a:p>
            <a:r>
              <a:rPr sz="1500" b="0">
                <a:solidFill>
                  <a:srgbClr val="232323"/>
                </a:solidFill>
              </a:rPr>
              <a:t>Weeks 5–6: Low-light enhancement and preprocessing</a:t>
            </a:r>
          </a:p>
          <a:p>
            <a:r>
              <a:rPr sz="1500" b="0">
                <a:solidFill>
                  <a:srgbClr val="232323"/>
                </a:solidFill>
              </a:rPr>
              <a:t>Weeks 7–8: Decision engine and headlight interface</a:t>
            </a:r>
          </a:p>
          <a:p>
            <a:r>
              <a:rPr sz="1500" b="0">
                <a:solidFill>
                  <a:srgbClr val="232323"/>
                </a:solidFill>
              </a:rPr>
              <a:t>Weeks 9–10: Integration, testing and evaluation</a:t>
            </a:r>
          </a:p>
          <a:p>
            <a:r>
              <a:rPr sz="1500" b="0">
                <a:solidFill>
                  <a:srgbClr val="232323"/>
                </a:solidFill>
              </a:rPr>
              <a:t>Weeks 11–12: Optimization, documentation and final demonstration</a:t>
            </a:r>
          </a:p>
          <a:p>
            <a:endParaRPr sz="1500" b="0">
              <a:solidFill>
                <a:srgbClr val="232323"/>
              </a:solidFill>
            </a:endParaRPr>
          </a:p>
          <a:p>
            <a:r>
              <a:rPr sz="1500" b="0">
                <a:solidFill>
                  <a:srgbClr val="232323"/>
                </a:solidFill>
              </a:rPr>
              <a:t>Evaluation: Precision, Recall, mAP@0.5, FPS, latency, beam-decision accuracy and false-switch rate.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sz="2600" b="1" dirty="0">
                <a:solidFill>
                  <a:srgbClr val="232323"/>
                </a:solidFill>
              </a:rPr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11599842" cy="244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 dirty="0">
                <a:solidFill>
                  <a:srgbClr val="232323"/>
                </a:solidFill>
              </a:rPr>
              <a:t>• The proposed system addresses a practical ADAS problem: recognizing road users and controlling headlights automatically.</a:t>
            </a:r>
          </a:p>
          <a:p>
            <a:r>
              <a:rPr sz="1700" b="0" dirty="0">
                <a:solidFill>
                  <a:srgbClr val="232323"/>
                </a:solidFill>
              </a:rPr>
              <a:t>• A lightweight YOLO-based detector provides the perception layer, while low-light enhancement helps difficult nighttime frames.</a:t>
            </a:r>
          </a:p>
          <a:p>
            <a:r>
              <a:rPr sz="1700" b="0" dirty="0">
                <a:solidFill>
                  <a:srgbClr val="232323"/>
                </a:solidFill>
              </a:rPr>
              <a:t>• A rule-based decision engine makes headlight control explainable and suitable for a prototype.</a:t>
            </a:r>
          </a:p>
          <a:p>
            <a:r>
              <a:rPr sz="1700" b="0" dirty="0">
                <a:solidFill>
                  <a:srgbClr val="232323"/>
                </a:solidFill>
              </a:rPr>
              <a:t>• The project is feasible with commonly available software and low-cost hardware.</a:t>
            </a:r>
          </a:p>
          <a:p>
            <a:r>
              <a:rPr sz="1700" b="0" dirty="0">
                <a:solidFill>
                  <a:srgbClr val="232323"/>
                </a:solidFill>
              </a:rPr>
              <a:t>• The modular design supports later integration with a real vehicle lighting interface.</a:t>
            </a:r>
          </a:p>
          <a:p>
            <a:endParaRPr sz="1700" b="0" dirty="0">
              <a:solidFill>
                <a:srgbClr val="232323"/>
              </a:solidFill>
            </a:endParaRPr>
          </a:p>
          <a:p>
            <a:r>
              <a:rPr sz="1700" b="0" dirty="0">
                <a:solidFill>
                  <a:srgbClr val="232323"/>
                </a:solidFill>
              </a:rPr>
              <a:t>NEXT PHASE</a:t>
            </a:r>
          </a:p>
          <a:p>
            <a:r>
              <a:rPr sz="1700" b="0" dirty="0">
                <a:solidFill>
                  <a:srgbClr val="232323"/>
                </a:solidFill>
              </a:rPr>
              <a:t>Dataset preparation → model selection → prototype implementation → </a:t>
            </a:r>
            <a:endParaRPr lang="en-US" sz="1700" b="0" dirty="0">
              <a:solidFill>
                <a:srgbClr val="232323"/>
              </a:solidFill>
            </a:endParaRPr>
          </a:p>
          <a:p>
            <a:r>
              <a:rPr sz="1700" b="0" dirty="0">
                <a:solidFill>
                  <a:srgbClr val="232323"/>
                </a:solidFill>
              </a:rPr>
              <a:t>integration → quantitative testing → optimization →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F55A-C1E5-6F9C-DFF5-89BCCFDA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4D1F2-3AD4-57B3-47F6-E7F51BBDD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Toney, G., &amp; Bhargava, C. (2021). </a:t>
            </a:r>
            <a:r>
              <a:rPr lang="en-IN" i="1" dirty="0"/>
              <a:t>Adaptive Headlamps in Automobile: A Review on the Models, Detection Techniques, and Mathematical Models</a:t>
            </a:r>
            <a:r>
              <a:rPr lang="en-IN" dirty="0"/>
              <a:t>. IEEE Access, 9, 87462–87474. https://doi.org/10.1109/ACCESS.2021.3088036 </a:t>
            </a:r>
          </a:p>
          <a:p>
            <a:pPr lvl="0"/>
            <a:r>
              <a:rPr lang="en-IN" dirty="0"/>
              <a:t>Mandal, G., Bhattacharya, D., &amp; De, P. (2021). </a:t>
            </a:r>
            <a:r>
              <a:rPr lang="en-IN" i="1" dirty="0"/>
              <a:t>Real-Time Automotive Night-Vision System for Drivers to Inhibit Headlight Glare of the Oncoming Vehicles and Enhance Road Visibility</a:t>
            </a:r>
            <a:r>
              <a:rPr lang="en-IN" dirty="0"/>
              <a:t>. Journal of Real-Time Image Processing, 18. </a:t>
            </a:r>
          </a:p>
          <a:p>
            <a:pPr lvl="0"/>
            <a:r>
              <a:rPr lang="en-IN" dirty="0" err="1"/>
              <a:t>Saralajew</a:t>
            </a:r>
            <a:r>
              <a:rPr lang="en-IN" dirty="0"/>
              <a:t>, S., Ohnemus, L., </a:t>
            </a:r>
            <a:r>
              <a:rPr lang="en-IN" dirty="0" err="1"/>
              <a:t>Ewecker</a:t>
            </a:r>
            <a:r>
              <a:rPr lang="en-IN" dirty="0"/>
              <a:t>, L., Asan, E., Isele, S., &amp; </a:t>
            </a:r>
            <a:r>
              <a:rPr lang="en-IN" dirty="0" err="1"/>
              <a:t>Roos</a:t>
            </a:r>
            <a:r>
              <a:rPr lang="en-IN" dirty="0"/>
              <a:t>, S. (2021). </a:t>
            </a:r>
            <a:r>
              <a:rPr lang="en-IN" i="1" dirty="0"/>
              <a:t>A Dataset for Provident Vehicle Detection at Night</a:t>
            </a:r>
            <a:r>
              <a:rPr lang="en-IN" dirty="0"/>
              <a:t>. IEEE/RSJ International Conference on Intelligent Robots and Systems (IROS). </a:t>
            </a:r>
          </a:p>
          <a:p>
            <a:pPr lvl="0"/>
            <a:r>
              <a:rPr lang="en-IN" dirty="0"/>
              <a:t>Guo, C., et al. (2020). </a:t>
            </a:r>
            <a:r>
              <a:rPr lang="en-IN" i="1" dirty="0"/>
              <a:t>Zero-Reference Deep Curve Estimation for Low-Light Image Enhancement</a:t>
            </a:r>
            <a:r>
              <a:rPr lang="en-IN" dirty="0"/>
              <a:t>. IEEE/CVF Conference on Computer Vision and Pattern Recognition (CVPR). </a:t>
            </a:r>
          </a:p>
          <a:p>
            <a:pPr lvl="0"/>
            <a:r>
              <a:rPr lang="en-IN" dirty="0"/>
              <a:t>Yu, F., et al. (2020). </a:t>
            </a:r>
            <a:r>
              <a:rPr lang="en-IN" i="1" dirty="0"/>
              <a:t>BDD100K: A Diverse Driving Dataset for Heterogeneous Multitask Learning</a:t>
            </a:r>
            <a:r>
              <a:rPr lang="en-IN" dirty="0"/>
              <a:t>. IEEE/CVF Conference on Computer Vision and Pattern Recognition (CVPR).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8A4B-DF58-9842-0005-EB707A5B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07-10-2026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6765-E4DC-4FCD-7E1F-13F40960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8870F-6B1F-491D-8986-2C75214A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51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800" b="0">
                <a:solidFill>
                  <a:srgbClr val="5A5A5A"/>
                </a:solidFill>
              </a:rPr>
              <a:t>24-08-2026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1692</Words>
  <Application>Microsoft Office PowerPoint</Application>
  <PresentationFormat>Widescreen</PresentationFormat>
  <Paragraphs>257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 INDUSTRIAL INTERNSHIP PHASE-I PROJECT REVIEW – 1 Smart Vehicle Vision System with Image Recognition and Automatic Headlight Control</vt:lpstr>
      <vt:lpstr>OUTLINE</vt:lpstr>
      <vt:lpstr>INTRODUCTION</vt:lpstr>
      <vt:lpstr>PROBLEM STATEMENT</vt:lpstr>
      <vt:lpstr>OBJECTIVES</vt:lpstr>
      <vt:lpstr>LITERATURE SURVEY </vt:lpstr>
      <vt:lpstr>PowerPoint Presentation</vt:lpstr>
      <vt:lpstr>RESEARCH GAP IDENTIFICATION</vt:lpstr>
      <vt:lpstr>INNOVATION, CREATIVITY &amp; NOVELTY</vt:lpstr>
      <vt:lpstr>FEASIBILITY &amp;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ALURU SRI TEJASWI PRIYANK 2420030276</cp:lastModifiedBy>
  <cp:revision>198</cp:revision>
  <cp:lastPrinted>2025-06-24T13:51:00Z</cp:lastPrinted>
  <dcterms:created xsi:type="dcterms:W3CDTF">2022-05-20T10:20:00Z</dcterms:created>
  <dcterms:modified xsi:type="dcterms:W3CDTF">2026-10-07T07:03:29Z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